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8" r:id="rId2"/>
    <p:sldId id="277" r:id="rId3"/>
    <p:sldId id="266" r:id="rId4"/>
    <p:sldId id="278" r:id="rId5"/>
    <p:sldId id="267" r:id="rId6"/>
    <p:sldId id="280" r:id="rId7"/>
    <p:sldId id="281" r:id="rId8"/>
    <p:sldId id="282" r:id="rId9"/>
    <p:sldId id="283" r:id="rId10"/>
    <p:sldId id="286" r:id="rId11"/>
    <p:sldId id="288" r:id="rId12"/>
    <p:sldId id="287" r:id="rId13"/>
    <p:sldId id="284" r:id="rId14"/>
    <p:sldId id="285" r:id="rId15"/>
    <p:sldId id="289" r:id="rId16"/>
    <p:sldId id="290" r:id="rId17"/>
    <p:sldId id="292" r:id="rId18"/>
    <p:sldId id="262" r:id="rId19"/>
    <p:sldId id="291" r:id="rId2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E8BE152-B745-468F-8B30-91376240F3E3}">
          <p14:sldIdLst>
            <p14:sldId id="258"/>
            <p14:sldId id="277"/>
            <p14:sldId id="266"/>
            <p14:sldId id="278"/>
          </p14:sldIdLst>
        </p14:section>
        <p14:section name="First Findings" id="{2EE29180-83AC-4153-AE06-D1A22C122540}">
          <p14:sldIdLst>
            <p14:sldId id="267"/>
            <p14:sldId id="280"/>
            <p14:sldId id="281"/>
            <p14:sldId id="282"/>
            <p14:sldId id="283"/>
            <p14:sldId id="286"/>
            <p14:sldId id="288"/>
          </p14:sldIdLst>
        </p14:section>
        <p14:section name="Zoom sec." id="{D6A1BF6C-2411-4D15-97F9-523604764E35}">
          <p14:sldIdLst>
            <p14:sldId id="287"/>
            <p14:sldId id="284"/>
          </p14:sldIdLst>
        </p14:section>
        <p14:section name="Second Findings" id="{C42FE374-8D61-4B86-A29D-992A149B38EF}">
          <p14:sldIdLst>
            <p14:sldId id="285"/>
            <p14:sldId id="289"/>
            <p14:sldId id="290"/>
            <p14:sldId id="292"/>
            <p14:sldId id="262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781" autoAdjust="0"/>
    <p:restoredTop sz="94660"/>
  </p:normalViewPr>
  <p:slideViewPr>
    <p:cSldViewPr>
      <p:cViewPr varScale="1">
        <p:scale>
          <a:sx n="44" d="100"/>
          <a:sy n="44" d="100"/>
        </p:scale>
        <p:origin x="802" y="26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CEC3D-96F7-401F-9673-3EE7F75C9C5B}" type="datetimeFigureOut">
              <a:rPr lang="en-US"/>
              <a:t>5/15/2025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ED8CD-4E4C-49AC-BDC6-2963BA49E54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2BCF4-D26D-4DAF-9F57-FE1E61FE7935}" type="datetimeFigureOut">
              <a:rPr lang="en-US"/>
              <a:t>5/15/2025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91549-43BF-425A-AF25-7526201920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D00EA6-0821-4AC5-933C-321AA6545349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0772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oking up to clouds and blue sky surrounded by glass-walled building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5/15/2025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anchor="b">
            <a:normAutofit/>
          </a:bodyPr>
          <a:lstStyle>
            <a:lvl1pPr algn="l"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5/15/2025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5/15/2025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81C93FC7-9D1A-468B-98DB-D1E8D74418D9}" type="datetimeFigureOut">
              <a:rPr lang="en-US" smtClean="0"/>
              <a:pPr/>
              <a:t>5/15/2025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A3F31473-23EB-4724-8B59-FE6D21D89F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80744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6479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4038600"/>
            <a:ext cx="8915399" cy="137160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CANADA AIRLINE LOYALTY ACTIVITY </a:t>
            </a:r>
            <a:br>
              <a:rPr lang="en-US" sz="4800" dirty="0"/>
            </a:br>
            <a:r>
              <a:rPr lang="en-US" sz="4800" dirty="0"/>
              <a:t>ANALYSIS |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 NeuroTECH Academy | Instructor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Eng.</a:t>
            </a:r>
            <a:r>
              <a:rPr lang="en-US" b="1" dirty="0"/>
              <a:t> Bassam EL Shoraa</a:t>
            </a:r>
          </a:p>
          <a:p>
            <a:endParaRPr lang="en-US" b="1" dirty="0"/>
          </a:p>
          <a:p>
            <a:r>
              <a:rPr lang="en-US" sz="2400" b="1" dirty="0"/>
              <a:t>  </a:t>
            </a:r>
            <a:r>
              <a:rPr lang="en-US" sz="2100" b="1" dirty="0">
                <a:solidFill>
                  <a:schemeClr val="accent6"/>
                </a:solidFill>
              </a:rPr>
              <a:t>CATHERINE HABIB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5796C0-72D9-562D-4C0F-33118FC93148}"/>
              </a:ext>
            </a:extLst>
          </p:cNvPr>
          <p:cNvSpPr txBox="1">
            <a:spLocks/>
          </p:cNvSpPr>
          <p:nvPr/>
        </p:nvSpPr>
        <p:spPr>
          <a:xfrm>
            <a:off x="3275012" y="4876800"/>
            <a:ext cx="3581400" cy="381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800" b="0" kern="1200" cap="none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6"/>
                </a:solidFill>
              </a:rPr>
              <a:t>Data Analysis </a:t>
            </a:r>
            <a:r>
              <a:rPr lang="en-US" sz="2400" dirty="0"/>
              <a:t>-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42349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84EC-ED8F-8F00-1576-EE2E717AF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4AABA9-A0D8-5B05-EE25-67A43A3C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dirty="0"/>
              <a:t>DATASET OUTLINE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5EA1AA-5FBA-06B1-ECD1-1C29FBC39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664" y="2569582"/>
            <a:ext cx="5029200" cy="20193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This Airline Dataset contains data from Canada Airline Loyalty History and Flights Activity.</a:t>
            </a:r>
          </a:p>
          <a:p>
            <a:pPr marL="0" indent="0" algn="just">
              <a:buNone/>
            </a:pPr>
            <a:r>
              <a:rPr lang="en-US" dirty="0"/>
              <a:t>The dataset consists of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  <a:r>
              <a:rPr lang="en-US" dirty="0"/>
              <a:t> different tables.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BCA2BA9-59C7-EADD-1965-93D6AEB68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1613" y="1709779"/>
            <a:ext cx="5029200" cy="990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TABLES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84EB19A-C0F7-0E8F-61B1-6D06E9DE0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1613" y="2569582"/>
            <a:ext cx="5029200" cy="1752600"/>
          </a:xfrm>
        </p:spPr>
        <p:txBody>
          <a:bodyPr/>
          <a:lstStyle/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dirty="0"/>
              <a:t>CALENDAR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dirty="0"/>
              <a:t>CUSTOMER FLIGHT ACTIVITY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dirty="0"/>
              <a:t>CUSTOMER LOYALTY HISTORY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B126892-7A1C-8693-8AB2-77E4D4E8D7A9}"/>
              </a:ext>
            </a:extLst>
          </p:cNvPr>
          <p:cNvSpPr txBox="1">
            <a:spLocks/>
          </p:cNvSpPr>
          <p:nvPr/>
        </p:nvSpPr>
        <p:spPr>
          <a:xfrm>
            <a:off x="1293664" y="1709779"/>
            <a:ext cx="50292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878923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4" grpId="0" build="p"/>
      <p:bldP spid="16" grpId="0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3656171" cy="1066800"/>
          </a:xfrm>
        </p:spPr>
        <p:txBody>
          <a:bodyPr>
            <a:noAutofit/>
          </a:bodyPr>
          <a:lstStyle/>
          <a:p>
            <a:r>
              <a:rPr lang="en-US" sz="4300" dirty="0"/>
              <a:t>KEY FINDINGS</a:t>
            </a:r>
            <a:endParaRPr lang="en-US" sz="3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C7F81-1ADC-D93B-D7D7-BA5FC54D80B9}"/>
              </a:ext>
            </a:extLst>
          </p:cNvPr>
          <p:cNvSpPr txBox="1"/>
          <p:nvPr/>
        </p:nvSpPr>
        <p:spPr>
          <a:xfrm>
            <a:off x="4623656" y="5473218"/>
            <a:ext cx="56388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900" dirty="0">
                <a:solidFill>
                  <a:schemeClr val="accent1"/>
                </a:solidFill>
              </a:rPr>
              <a:t>Customer Loyalty History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832EE5-6B07-358E-AA33-BF29486AF77A}"/>
              </a:ext>
            </a:extLst>
          </p:cNvPr>
          <p:cNvSpPr txBox="1"/>
          <p:nvPr/>
        </p:nvSpPr>
        <p:spPr>
          <a:xfrm>
            <a:off x="4128355" y="5638800"/>
            <a:ext cx="632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</a:t>
            </a:r>
            <a:r>
              <a:rPr lang="en-US" sz="1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table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4490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A7DA-52AF-048C-CD10-EC11A8AE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980A-E948-A762-305C-60967A41B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215" y="5562600"/>
            <a:ext cx="2190394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300" dirty="0"/>
              <a:t>FINDING</a:t>
            </a:r>
            <a:endParaRPr lang="en-US" sz="4300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3E45224C-FA8D-8B41-0D3C-270FBD2175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533748"/>
                  </p:ext>
                </p:extLst>
              </p:nvPr>
            </p:nvGraphicFramePr>
            <p:xfrm>
              <a:off x="2627312" y="1447800"/>
              <a:ext cx="6934200" cy="3962400"/>
            </p:xfrm>
            <a:graphic>
              <a:graphicData uri="http://schemas.microsoft.com/office/powerpoint/2016/sectionzoom">
                <psez:sectionZm>
                  <psez:sectionZmObj sectionId="{2EE29180-83AC-4153-AE06-D1A22C122540}">
                    <psez:zmPr id="{DDEE2402-7144-432C-802A-48D2E8851065}" returnToParent="0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934200" cy="39624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glow rad="63500">
                            <a:schemeClr val="accent6">
                              <a:lumMod val="60000"/>
                              <a:lumOff val="40000"/>
                              <a:alpha val="40000"/>
                            </a:schemeClr>
                          </a:glow>
                          <a:outerShdw blurRad="76200" dir="13500000" sy="23000" kx="1200000" algn="br" rotWithShape="0">
                            <a:schemeClr val="bg2">
                              <a:lumMod val="75000"/>
                              <a:alpha val="21000"/>
                            </a:scheme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Section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E45224C-FA8D-8B41-0D3C-270FBD2175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7312" y="1447800"/>
                <a:ext cx="6934200" cy="3962400"/>
              </a:xfrm>
              <a:prstGeom prst="rect">
                <a:avLst/>
              </a:prstGeom>
              <a:ln>
                <a:noFill/>
              </a:ln>
              <a:effectLst>
                <a:glow rad="63500">
                  <a:schemeClr val="accent6">
                    <a:lumMod val="60000"/>
                    <a:lumOff val="40000"/>
                    <a:alpha val="40000"/>
                  </a:schemeClr>
                </a:glow>
                <a:outerShdw blurRad="76200" dir="13500000" sy="23000" kx="1200000" algn="br" rotWithShape="0">
                  <a:schemeClr val="bg2">
                    <a:lumMod val="75000"/>
                    <a:alpha val="21000"/>
                  </a:schemeClr>
                </a:outerShdw>
              </a:effectLst>
            </p:spPr>
          </p:pic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84ABD1F-9CF5-C7D3-3073-D8B502419EE4}"/>
              </a:ext>
            </a:extLst>
          </p:cNvPr>
          <p:cNvSpPr/>
          <p:nvPr/>
        </p:nvSpPr>
        <p:spPr>
          <a:xfrm>
            <a:off x="2246312" y="-190500"/>
            <a:ext cx="7696201" cy="7239000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29AE5-E038-BFED-B399-AB1157F6698B}"/>
              </a:ext>
            </a:extLst>
          </p:cNvPr>
          <p:cNvSpPr txBox="1"/>
          <p:nvPr/>
        </p:nvSpPr>
        <p:spPr>
          <a:xfrm>
            <a:off x="6922909" y="5632103"/>
            <a:ext cx="5334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9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462583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earch Inventory outline">
            <a:extLst>
              <a:ext uri="{FF2B5EF4-FFF2-40B4-BE49-F238E27FC236}">
                <a16:creationId xmlns:a16="http://schemas.microsoft.com/office/drawing/2014/main" id="{D8BAEA66-EC0F-DFF2-C915-E71FD6328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3112" y="647700"/>
            <a:ext cx="5562600" cy="5562600"/>
          </a:xfrm>
          <a:prstGeom prst="rect">
            <a:avLst/>
          </a:prstGeom>
          <a:effectLst>
            <a:glow rad="228600">
              <a:schemeClr val="bg1">
                <a:alpha val="40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369DB1-2A6F-7479-F073-7AC71447FC3D}"/>
              </a:ext>
            </a:extLst>
          </p:cNvPr>
          <p:cNvSpPr txBox="1"/>
          <p:nvPr/>
        </p:nvSpPr>
        <p:spPr>
          <a:xfrm>
            <a:off x="2761474" y="5563969"/>
            <a:ext cx="6665878" cy="1200329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THE AIRLINE </a:t>
            </a:r>
            <a:r>
              <a:rPr lang="en-US" sz="3600" dirty="0">
                <a:solidFill>
                  <a:srgbClr val="39527B"/>
                </a:solidFill>
                <a:latin typeface="Corbel"/>
                <a:ea typeface="+mj-ea"/>
                <a:cs typeface="+mj-cs"/>
              </a:rPr>
              <a:t>CUSTOMER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S LOYALTY INFORMATION</a:t>
            </a:r>
          </a:p>
        </p:txBody>
      </p:sp>
    </p:spTree>
    <p:extLst>
      <p:ext uri="{BB962C8B-B14F-4D97-AF65-F5344CB8AC3E}">
        <p14:creationId xmlns:p14="http://schemas.microsoft.com/office/powerpoint/2010/main" val="62705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0859-622F-8E7C-7EF9-58EB909E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D7B0C01-81AD-A01A-2F2D-63F1D2C9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11199971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CUSTOMERS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LOYALTY </a:t>
            </a:r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INFORMATION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E5D6F97-1139-D273-9E1E-E771052F0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664" y="2569582"/>
            <a:ext cx="8153548" cy="27644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airline of this dataset provides services to customers coming from only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  <a:r>
              <a:rPr lang="en-US" dirty="0"/>
              <a:t> Country which is Canada from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11 </a:t>
            </a:r>
            <a:r>
              <a:rPr lang="en-US" dirty="0"/>
              <a:t>different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Provinces and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29</a:t>
            </a:r>
            <a:r>
              <a:rPr lang="en-US" dirty="0"/>
              <a:t> different Cities in Canada.</a:t>
            </a:r>
          </a:p>
          <a:p>
            <a:pPr marL="0" indent="0" algn="just">
              <a:buNone/>
            </a:pPr>
            <a:r>
              <a:rPr lang="en-US" dirty="0"/>
              <a:t>The dataset contains approximately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17K</a:t>
            </a:r>
            <a:r>
              <a:rPr lang="en-US" dirty="0"/>
              <a:t> customers enrolled in the airline services (exactly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16,737</a:t>
            </a:r>
            <a:r>
              <a:rPr lang="en-US" dirty="0"/>
              <a:t> customers).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5C2E76C7-97F8-B322-7DAD-86E0021B1E59}"/>
              </a:ext>
            </a:extLst>
          </p:cNvPr>
          <p:cNvSpPr txBox="1">
            <a:spLocks/>
          </p:cNvSpPr>
          <p:nvPr/>
        </p:nvSpPr>
        <p:spPr>
          <a:xfrm>
            <a:off x="1293664" y="1709779"/>
            <a:ext cx="50292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CUSTOMERS NATIONALITY</a:t>
            </a:r>
          </a:p>
        </p:txBody>
      </p:sp>
    </p:spTree>
    <p:extLst>
      <p:ext uri="{BB962C8B-B14F-4D97-AF65-F5344CB8AC3E}">
        <p14:creationId xmlns:p14="http://schemas.microsoft.com/office/powerpoint/2010/main" val="1928238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3AFB-32E2-8379-F9E9-44C85881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E18609E-4B2F-6006-9A88-DD392130C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11199971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CUSTOMERS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LOYALTY </a:t>
            </a:r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INFORMATION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CA7300A-FAFF-2C48-C35C-F14901A25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7638" y="2623084"/>
            <a:ext cx="8153548" cy="27644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Most customers are female gender.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50.25%</a:t>
            </a:r>
            <a:r>
              <a:rPr lang="en-US" sz="3600" dirty="0"/>
              <a:t> </a:t>
            </a:r>
            <a:r>
              <a:rPr lang="en-US" dirty="0"/>
              <a:t>are</a:t>
            </a:r>
            <a:r>
              <a:rPr lang="en-US" sz="3600" dirty="0"/>
              <a:t> </a:t>
            </a:r>
            <a:r>
              <a:rPr lang="en-US" sz="3600" dirty="0">
                <a:solidFill>
                  <a:schemeClr val="accent6"/>
                </a:solidFill>
              </a:rPr>
              <a:t>Female</a:t>
            </a:r>
            <a:r>
              <a:rPr lang="en-US" sz="3600" dirty="0"/>
              <a:t>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49.75%</a:t>
            </a:r>
            <a:r>
              <a:rPr lang="en-US" sz="3600" dirty="0"/>
              <a:t> </a:t>
            </a:r>
            <a:r>
              <a:rPr lang="en-US" dirty="0"/>
              <a:t>are</a:t>
            </a:r>
            <a:r>
              <a:rPr lang="en-US" sz="3600" dirty="0"/>
              <a:t> </a:t>
            </a:r>
            <a:r>
              <a:rPr lang="en-US" sz="3600" dirty="0">
                <a:solidFill>
                  <a:schemeClr val="accent1"/>
                </a:solidFill>
              </a:rPr>
              <a:t>Male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E01E4EF6-6B47-5096-B52D-DBE7ADB9F19C}"/>
              </a:ext>
            </a:extLst>
          </p:cNvPr>
          <p:cNvSpPr txBox="1">
            <a:spLocks/>
          </p:cNvSpPr>
          <p:nvPr/>
        </p:nvSpPr>
        <p:spPr>
          <a:xfrm>
            <a:off x="1293664" y="1709779"/>
            <a:ext cx="510554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CUSTOMERS GENDER DIVISION</a:t>
            </a:r>
          </a:p>
        </p:txBody>
      </p:sp>
      <p:pic>
        <p:nvPicPr>
          <p:cNvPr id="8" name="Graphic 7" descr="Male with solid fill">
            <a:extLst>
              <a:ext uri="{FF2B5EF4-FFF2-40B4-BE49-F238E27FC236}">
                <a16:creationId xmlns:a16="http://schemas.microsoft.com/office/drawing/2014/main" id="{C560D51E-5702-1B20-7AE4-6B3583B16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3612" y="3938607"/>
            <a:ext cx="914400" cy="914400"/>
          </a:xfrm>
          <a:prstGeom prst="rect">
            <a:avLst/>
          </a:prstGeom>
        </p:spPr>
      </p:pic>
      <p:pic>
        <p:nvPicPr>
          <p:cNvPr id="11" name="Graphic 10" descr="Female with solid fill">
            <a:extLst>
              <a:ext uri="{FF2B5EF4-FFF2-40B4-BE49-F238E27FC236}">
                <a16:creationId xmlns:a16="http://schemas.microsoft.com/office/drawing/2014/main" id="{8DE74C2E-9060-AE15-9DF0-4EB4557FD3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9238" y="30908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83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4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BB12-9B30-DE6A-80BF-0B096293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E6F3C94-C8D4-CBA0-2E6C-51C34205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11276171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CUSTOMERS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LOYALTY </a:t>
            </a:r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INFORMATION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EFFD0B3-799F-14B7-D9C0-812DEF8E3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7639" y="2364897"/>
            <a:ext cx="8153548" cy="276441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There are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  <a:r>
              <a:rPr lang="en-US" dirty="0"/>
              <a:t> different degrees: 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62.59%</a:t>
            </a:r>
            <a:r>
              <a:rPr lang="en-US" dirty="0"/>
              <a:t> have a </a:t>
            </a:r>
            <a:r>
              <a:rPr lang="en-US" dirty="0">
                <a:solidFill>
                  <a:schemeClr val="accent6"/>
                </a:solidFill>
              </a:rPr>
              <a:t>Bachelor’s </a:t>
            </a:r>
            <a:r>
              <a:rPr lang="en-US" dirty="0"/>
              <a:t>degree.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25.32%</a:t>
            </a:r>
            <a:r>
              <a:rPr lang="en-US" b="1" dirty="0"/>
              <a:t> </a:t>
            </a:r>
            <a:r>
              <a:rPr lang="en-US" dirty="0"/>
              <a:t>have a </a:t>
            </a:r>
            <a:r>
              <a:rPr lang="en-US" dirty="0">
                <a:solidFill>
                  <a:schemeClr val="accent6"/>
                </a:solidFill>
              </a:rPr>
              <a:t>College</a:t>
            </a:r>
            <a:r>
              <a:rPr lang="en-US" dirty="0"/>
              <a:t> degree.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4.67%</a:t>
            </a:r>
            <a:r>
              <a:rPr lang="en-US" dirty="0"/>
              <a:t> have a </a:t>
            </a:r>
            <a:r>
              <a:rPr lang="en-US" dirty="0">
                <a:solidFill>
                  <a:schemeClr val="accent6"/>
                </a:solidFill>
              </a:rPr>
              <a:t>High School </a:t>
            </a:r>
            <a:r>
              <a:rPr lang="en-US" dirty="0"/>
              <a:t>degree or </a:t>
            </a:r>
            <a:r>
              <a:rPr lang="en-US" dirty="0">
                <a:solidFill>
                  <a:schemeClr val="accent6"/>
                </a:solidFill>
              </a:rPr>
              <a:t>Below</a:t>
            </a:r>
            <a:r>
              <a:rPr lang="en-US" dirty="0"/>
              <a:t>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4.39%</a:t>
            </a:r>
            <a:r>
              <a:rPr lang="en-US" dirty="0"/>
              <a:t> have a </a:t>
            </a:r>
            <a:r>
              <a:rPr lang="en-US" dirty="0">
                <a:solidFill>
                  <a:schemeClr val="accent6"/>
                </a:solidFill>
              </a:rPr>
              <a:t>Doctor</a:t>
            </a:r>
            <a:r>
              <a:rPr lang="en-US" dirty="0"/>
              <a:t> degree.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3.04%</a:t>
            </a:r>
            <a:r>
              <a:rPr lang="en-US" dirty="0"/>
              <a:t> have a </a:t>
            </a:r>
            <a:r>
              <a:rPr lang="en-US" dirty="0">
                <a:solidFill>
                  <a:schemeClr val="accent6"/>
                </a:solidFill>
              </a:rPr>
              <a:t>Master’s</a:t>
            </a:r>
            <a:r>
              <a:rPr lang="en-US" dirty="0"/>
              <a:t> degree.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F85DAA6E-65DE-A2E0-775E-74B96721AE97}"/>
              </a:ext>
            </a:extLst>
          </p:cNvPr>
          <p:cNvSpPr txBox="1">
            <a:spLocks/>
          </p:cNvSpPr>
          <p:nvPr/>
        </p:nvSpPr>
        <p:spPr>
          <a:xfrm>
            <a:off x="1293812" y="1374297"/>
            <a:ext cx="563894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CUSTOMERS EDUCATION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9C42A-819E-CBF9-6466-77E17FEAB919}"/>
              </a:ext>
            </a:extLst>
          </p:cNvPr>
          <p:cNvSpPr txBox="1"/>
          <p:nvPr/>
        </p:nvSpPr>
        <p:spPr>
          <a:xfrm>
            <a:off x="7466012" y="2228671"/>
            <a:ext cx="39609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Note:</a:t>
            </a:r>
          </a:p>
          <a:p>
            <a:pPr algn="ctr"/>
            <a:r>
              <a:rPr lang="en-US" sz="3600" dirty="0"/>
              <a:t>The Majority have a </a:t>
            </a:r>
            <a:r>
              <a:rPr lang="en-US" sz="3600" dirty="0">
                <a:solidFill>
                  <a:schemeClr val="accent6"/>
                </a:solidFill>
              </a:rPr>
              <a:t>Bachelor’s</a:t>
            </a:r>
            <a:r>
              <a:rPr lang="en-US" sz="3600" dirty="0"/>
              <a:t> degree !</a:t>
            </a:r>
          </a:p>
        </p:txBody>
      </p:sp>
    </p:spTree>
    <p:extLst>
      <p:ext uri="{BB962C8B-B14F-4D97-AF65-F5344CB8AC3E}">
        <p14:creationId xmlns:p14="http://schemas.microsoft.com/office/powerpoint/2010/main" val="98127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0DEA7-8C6A-4C9A-CE6B-58FD139AA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1D02E7E-CB37-B00F-81D0-7371AD725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11199971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CUSTOMERS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LOYALTY </a:t>
            </a:r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INFORMATION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6BE5DEA-51A3-5185-57E4-848CCE7C2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7639" y="2364897"/>
            <a:ext cx="3848173" cy="27644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There are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  <a:r>
              <a:rPr lang="en-US" dirty="0"/>
              <a:t> categories: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58.16% </a:t>
            </a:r>
            <a:r>
              <a:rPr lang="en-US" dirty="0"/>
              <a:t>are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Married</a:t>
            </a:r>
            <a:r>
              <a:rPr lang="en-US" dirty="0"/>
              <a:t>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26.79% </a:t>
            </a:r>
            <a:r>
              <a:rPr lang="en-US" dirty="0"/>
              <a:t>are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Single</a:t>
            </a:r>
            <a:r>
              <a:rPr lang="en-US" dirty="0"/>
              <a:t>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15.04% </a:t>
            </a:r>
            <a:r>
              <a:rPr lang="en-US" dirty="0"/>
              <a:t>are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Divorced</a:t>
            </a:r>
            <a:r>
              <a:rPr lang="en-US" dirty="0"/>
              <a:t>.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EE351A83-BB15-2D7B-3872-3BD40FE3951E}"/>
              </a:ext>
            </a:extLst>
          </p:cNvPr>
          <p:cNvSpPr txBox="1">
            <a:spLocks/>
          </p:cNvSpPr>
          <p:nvPr/>
        </p:nvSpPr>
        <p:spPr>
          <a:xfrm>
            <a:off x="1293812" y="1374297"/>
            <a:ext cx="563894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CUSTOMERS MARITAL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90513-3EAC-0280-63EF-29EFA797610B}"/>
              </a:ext>
            </a:extLst>
          </p:cNvPr>
          <p:cNvSpPr txBox="1"/>
          <p:nvPr/>
        </p:nvSpPr>
        <p:spPr>
          <a:xfrm>
            <a:off x="6589639" y="2369921"/>
            <a:ext cx="423060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Note:</a:t>
            </a:r>
          </a:p>
          <a:p>
            <a:pPr algn="ctr"/>
            <a:r>
              <a:rPr lang="en-US" sz="3600" dirty="0"/>
              <a:t>The Majority are </a:t>
            </a:r>
            <a:r>
              <a:rPr lang="en-US" sz="3600" dirty="0">
                <a:solidFill>
                  <a:schemeClr val="accent6"/>
                </a:solidFill>
              </a:rPr>
              <a:t>Married</a:t>
            </a:r>
            <a:r>
              <a:rPr lang="en-US" sz="3600" dirty="0"/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665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3E71-0FF0-B783-35E4-5D96798C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2662E7C-5DBD-9236-BAFB-2ABC0A7B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11180448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CUSTOMERS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LOYALTY </a:t>
            </a:r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INFORMATION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499B521-E650-3630-651F-3F331674B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041" y="2171700"/>
            <a:ext cx="5753173" cy="311880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There are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  <a:r>
              <a:rPr lang="en-US" dirty="0"/>
              <a:t> types: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7,637 </a:t>
            </a:r>
            <a:r>
              <a:rPr lang="en-US" dirty="0"/>
              <a:t>are enrolled in a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Star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Card,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901</a:t>
            </a:r>
            <a:r>
              <a:rPr lang="en-US" dirty="0"/>
              <a:t> of which were cancelled.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5,671 </a:t>
            </a:r>
            <a:r>
              <a:rPr lang="en-US" dirty="0"/>
              <a:t>are enrolled in a </a:t>
            </a:r>
            <a:r>
              <a:rPr lang="en-US" dirty="0">
                <a:solidFill>
                  <a:schemeClr val="accent6"/>
                </a:solidFill>
              </a:rPr>
              <a:t>Nova</a:t>
            </a:r>
            <a:r>
              <a:rPr lang="en-US" dirty="0"/>
              <a:t> Card,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717</a:t>
            </a:r>
            <a:r>
              <a:rPr lang="en-US" dirty="0"/>
              <a:t> of which were cancelled.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3,429 </a:t>
            </a:r>
            <a:r>
              <a:rPr lang="en-US" dirty="0"/>
              <a:t>are enrolled in an </a:t>
            </a:r>
            <a:r>
              <a:rPr lang="en-US" dirty="0">
                <a:solidFill>
                  <a:schemeClr val="accent6"/>
                </a:solidFill>
              </a:rPr>
              <a:t>Aurora</a:t>
            </a:r>
            <a:r>
              <a:rPr lang="en-US" dirty="0"/>
              <a:t> Card,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449 </a:t>
            </a:r>
            <a:r>
              <a:rPr lang="en-US" dirty="0"/>
              <a:t>of which were cancelled.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46492F9B-A2CB-F37B-7132-CEA0BFC44B12}"/>
              </a:ext>
            </a:extLst>
          </p:cNvPr>
          <p:cNvSpPr txBox="1">
            <a:spLocks/>
          </p:cNvSpPr>
          <p:nvPr/>
        </p:nvSpPr>
        <p:spPr>
          <a:xfrm>
            <a:off x="609441" y="1181100"/>
            <a:ext cx="108204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CUSTOMERS LOYALTY CARDS ENROLLMENTS AND CANCELATIONS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69CFDB-6F03-3C8B-DEA9-3625CA7E914D}"/>
              </a:ext>
            </a:extLst>
          </p:cNvPr>
          <p:cNvSpPr txBox="1"/>
          <p:nvPr/>
        </p:nvSpPr>
        <p:spPr>
          <a:xfrm>
            <a:off x="7559287" y="2067796"/>
            <a:ext cx="423060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Note:</a:t>
            </a:r>
          </a:p>
          <a:p>
            <a:pPr algn="ctr"/>
            <a:r>
              <a:rPr lang="en-US" sz="3200" dirty="0"/>
              <a:t>The Majority have a </a:t>
            </a:r>
            <a:r>
              <a:rPr lang="en-US" sz="3200" dirty="0">
                <a:solidFill>
                  <a:schemeClr val="accent6"/>
                </a:solidFill>
              </a:rPr>
              <a:t>Star </a:t>
            </a:r>
            <a:r>
              <a:rPr lang="en-US" sz="3200" dirty="0"/>
              <a:t>Card!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D66E1-9FB5-7BA3-0952-CF0E64BC3400}"/>
              </a:ext>
            </a:extLst>
          </p:cNvPr>
          <p:cNvSpPr txBox="1"/>
          <p:nvPr/>
        </p:nvSpPr>
        <p:spPr>
          <a:xfrm>
            <a:off x="7701648" y="3923327"/>
            <a:ext cx="423060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enrollments were between </a:t>
            </a:r>
            <a:r>
              <a:rPr lang="en-US" dirty="0">
                <a:solidFill>
                  <a:schemeClr val="accent6"/>
                </a:solidFill>
              </a:rPr>
              <a:t>2012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2018</a:t>
            </a:r>
          </a:p>
          <a:p>
            <a:pPr algn="ctr"/>
            <a:r>
              <a:rPr lang="en-US" sz="1100" dirty="0">
                <a:solidFill>
                  <a:schemeClr val="accent6"/>
                </a:solidFill>
              </a:rPr>
              <a:t>&amp;</a:t>
            </a:r>
          </a:p>
          <a:p>
            <a:pPr algn="ctr"/>
            <a:r>
              <a:rPr lang="en-US" dirty="0"/>
              <a:t>All cancellations were between </a:t>
            </a:r>
            <a:r>
              <a:rPr lang="en-US" dirty="0">
                <a:solidFill>
                  <a:schemeClr val="accent6"/>
                </a:solidFill>
              </a:rPr>
              <a:t>2013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2018</a:t>
            </a:r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81D9B3-452F-43B9-7A5E-43A098D9C89F}"/>
              </a:ext>
            </a:extLst>
          </p:cNvPr>
          <p:cNvSpPr/>
          <p:nvPr/>
        </p:nvSpPr>
        <p:spPr>
          <a:xfrm>
            <a:off x="7847012" y="3923327"/>
            <a:ext cx="3942877" cy="1367179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87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3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8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" grpId="0"/>
      <p:bldP spid="3" grpId="0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AE013-5730-C339-2C8D-7D12A2E5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D02540A-9F13-9437-BD9D-A85FB277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11180448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CUSTOMERS </a:t>
            </a:r>
            <a:r>
              <a:rPr lang="en-US" sz="4400" dirty="0">
                <a:solidFill>
                  <a:srgbClr val="39527B"/>
                </a:solidFill>
              </a:rPr>
              <a:t>LOYALTY </a:t>
            </a:r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INFORMATION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E585711-7CAA-5C79-F11A-BB547E540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041" y="2171700"/>
            <a:ext cx="5753173" cy="1066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Ranges between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1,898.01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83,325.38</a:t>
            </a:r>
            <a:r>
              <a:rPr lang="en-US" b="1" dirty="0"/>
              <a:t>.</a:t>
            </a:r>
          </a:p>
          <a:p>
            <a:pPr algn="just">
              <a:buClr>
                <a:schemeClr val="accent4">
                  <a:lumMod val="60000"/>
                  <a:lumOff val="40000"/>
                </a:schemeClr>
              </a:buClr>
              <a:buSzPct val="85000"/>
            </a:pPr>
            <a:r>
              <a:rPr lang="en-US" dirty="0"/>
              <a:t>Customers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with the highest CLVs: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FC3F933C-E2AC-3B48-695C-A2B829BCC25D}"/>
              </a:ext>
            </a:extLst>
          </p:cNvPr>
          <p:cNvSpPr txBox="1">
            <a:spLocks/>
          </p:cNvSpPr>
          <p:nvPr/>
        </p:nvSpPr>
        <p:spPr>
          <a:xfrm>
            <a:off x="609441" y="1181100"/>
            <a:ext cx="8685371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CUSTOMERS CLV (CUSTOMER LIFETIME VALUE) RANGE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9D2C2-CAC4-56AF-413E-7CA103CA3CBE}"/>
              </a:ext>
            </a:extLst>
          </p:cNvPr>
          <p:cNvSpPr txBox="1"/>
          <p:nvPr/>
        </p:nvSpPr>
        <p:spPr>
          <a:xfrm>
            <a:off x="7559287" y="2067796"/>
            <a:ext cx="423060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Note:</a:t>
            </a:r>
          </a:p>
          <a:p>
            <a:pPr algn="ctr"/>
            <a:r>
              <a:rPr lang="en-US" sz="3200" dirty="0"/>
              <a:t>The Total of all CLVs measures approximately </a:t>
            </a:r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133.71M</a:t>
            </a:r>
            <a:r>
              <a:rPr lang="en-US" sz="3200" dirty="0"/>
              <a:t>!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3FC2D0-F7CF-E3DE-F8BF-51400A988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6999" y="3238500"/>
            <a:ext cx="5985077" cy="1943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7047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30EA-9187-9CEB-8893-8B138BF6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9868-18C6-4039-0984-F1F0A119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3656171" cy="1066800"/>
          </a:xfrm>
        </p:spPr>
        <p:txBody>
          <a:bodyPr>
            <a:noAutofit/>
          </a:bodyPr>
          <a:lstStyle/>
          <a:p>
            <a:r>
              <a:rPr lang="en-US" sz="4300" dirty="0"/>
              <a:t>KEY FINDINGS</a:t>
            </a:r>
            <a:endParaRPr lang="en-US" sz="3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1DF5F-DE36-8A59-DB38-20992BFD5C44}"/>
              </a:ext>
            </a:extLst>
          </p:cNvPr>
          <p:cNvSpPr txBox="1"/>
          <p:nvPr/>
        </p:nvSpPr>
        <p:spPr>
          <a:xfrm>
            <a:off x="4623656" y="5473218"/>
            <a:ext cx="56388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900" dirty="0">
                <a:solidFill>
                  <a:schemeClr val="accent1"/>
                </a:solidFill>
              </a:rPr>
              <a:t>Customer Flight 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A601A-61D1-7E5D-4DC6-630B5292C816}"/>
              </a:ext>
            </a:extLst>
          </p:cNvPr>
          <p:cNvSpPr txBox="1"/>
          <p:nvPr/>
        </p:nvSpPr>
        <p:spPr>
          <a:xfrm>
            <a:off x="4128355" y="5638800"/>
            <a:ext cx="632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</a:t>
            </a:r>
            <a:r>
              <a:rPr lang="en-US" sz="1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table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3939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B4CC-A503-466D-437B-C412C389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317AD-3E92-4819-FF08-D7722DE7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215" y="5562600"/>
            <a:ext cx="2190394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300" dirty="0"/>
              <a:t>FINDING</a:t>
            </a:r>
            <a:endParaRPr lang="en-US" sz="4300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0836928-65A2-CDC6-DC1D-EC24FA942794}"/>
              </a:ext>
            </a:extLst>
          </p:cNvPr>
          <p:cNvSpPr/>
          <p:nvPr/>
        </p:nvSpPr>
        <p:spPr>
          <a:xfrm>
            <a:off x="2246312" y="-190500"/>
            <a:ext cx="7696201" cy="7239000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936BC-79F9-2222-AFDA-FEDF28B37F5F}"/>
              </a:ext>
            </a:extLst>
          </p:cNvPr>
          <p:cNvSpPr txBox="1"/>
          <p:nvPr/>
        </p:nvSpPr>
        <p:spPr>
          <a:xfrm>
            <a:off x="6922909" y="5632103"/>
            <a:ext cx="5334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9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Section Zoom 10">
                <a:extLst>
                  <a:ext uri="{FF2B5EF4-FFF2-40B4-BE49-F238E27FC236}">
                    <a16:creationId xmlns:a16="http://schemas.microsoft.com/office/drawing/2014/main" id="{8FB01F6B-859F-6191-C3BE-CC78F728D0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9655220"/>
                  </p:ext>
                </p:extLst>
              </p:nvPr>
            </p:nvGraphicFramePr>
            <p:xfrm>
              <a:off x="2575905" y="1449324"/>
              <a:ext cx="7037014" cy="3959352"/>
            </p:xfrm>
            <a:graphic>
              <a:graphicData uri="http://schemas.microsoft.com/office/powerpoint/2016/sectionzoom">
                <psez:sectionZm>
                  <psez:sectionZmObj sectionId="{C42FE374-8D61-4B86-A29D-992A149B38EF}">
                    <psez:zmPr id="{00DE806F-3719-43A2-9F3B-46DAD9C1AF33}" returnToParent="0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037014" cy="3959352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glow rad="63500">
                            <a:schemeClr val="accent6">
                              <a:lumMod val="60000"/>
                              <a:lumOff val="40000"/>
                              <a:alpha val="40000"/>
                            </a:schemeClr>
                          </a:glow>
                          <a:outerShdw blurRad="76200" dir="13500000" sy="23000" kx="1200000" algn="br" rotWithShape="0">
                            <a:schemeClr val="bg2">
                              <a:lumMod val="75000"/>
                              <a:alpha val="21000"/>
                            </a:scheme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Section Zoom 1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FB01F6B-859F-6191-C3BE-CC78F728D0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5905" y="1449324"/>
                <a:ext cx="7037014" cy="3959352"/>
              </a:xfrm>
              <a:prstGeom prst="rect">
                <a:avLst/>
              </a:prstGeom>
              <a:ln w="3175">
                <a:noFill/>
              </a:ln>
              <a:effectLst>
                <a:glow rad="63500">
                  <a:schemeClr val="accent6">
                    <a:lumMod val="60000"/>
                    <a:lumOff val="40000"/>
                    <a:alpha val="40000"/>
                  </a:schemeClr>
                </a:glow>
                <a:outerShdw blurRad="76200" dir="13500000" sy="23000" kx="1200000" algn="br" rotWithShape="0">
                  <a:schemeClr val="bg2">
                    <a:lumMod val="75000"/>
                    <a:alpha val="21000"/>
                  </a:schemeClr>
                </a:outerShd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57816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D02C-6AF3-604D-275A-18F0355F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earch Inventory outline">
            <a:extLst>
              <a:ext uri="{FF2B5EF4-FFF2-40B4-BE49-F238E27FC236}">
                <a16:creationId xmlns:a16="http://schemas.microsoft.com/office/drawing/2014/main" id="{2BE85FF7-091C-1771-C568-10B02ECE3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3112" y="647700"/>
            <a:ext cx="5562600" cy="5562600"/>
          </a:xfrm>
          <a:prstGeom prst="rect">
            <a:avLst/>
          </a:prstGeom>
          <a:effectLst>
            <a:glow rad="228600">
              <a:schemeClr val="bg1">
                <a:alpha val="40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A24039-F453-CD2D-6A48-55FA1FDF4220}"/>
              </a:ext>
            </a:extLst>
          </p:cNvPr>
          <p:cNvSpPr txBox="1"/>
          <p:nvPr/>
        </p:nvSpPr>
        <p:spPr>
          <a:xfrm>
            <a:off x="2761474" y="5563969"/>
            <a:ext cx="6665878" cy="646331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THE AIRLINE </a:t>
            </a:r>
            <a:r>
              <a:rPr lang="en-US" sz="3600" dirty="0">
                <a:solidFill>
                  <a:srgbClr val="39527B"/>
                </a:solidFill>
                <a:latin typeface="Corbel"/>
                <a:ea typeface="+mj-ea"/>
                <a:cs typeface="+mj-cs"/>
              </a:rPr>
              <a:t>FLIGHTS ACTIVITY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39527B"/>
              </a:solidFill>
              <a:effectLst/>
              <a:uLnTx/>
              <a:uFillTx/>
              <a:latin typeface="Corbe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5258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C9E1-ACE4-ADF5-5C40-EA7B7893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8EB21B4-E9C0-2C9F-8AB0-414CADA7C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6399371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FLGHTS ACTIVITY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C9045E3-A82C-C8A4-5278-13343FDAB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664" y="2569582"/>
            <a:ext cx="8153548" cy="284061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All flights in this dataset were only in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r>
              <a:rPr lang="en-US" dirty="0"/>
              <a:t> years </a:t>
            </a:r>
            <a:r>
              <a:rPr lang="en-US" dirty="0">
                <a:solidFill>
                  <a:schemeClr val="accent6"/>
                </a:solidFill>
              </a:rPr>
              <a:t>2017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2018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The dataset contains approximately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509K</a:t>
            </a:r>
            <a:r>
              <a:rPr lang="en-US" dirty="0"/>
              <a:t> recorded flights (exactly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508,808</a:t>
            </a:r>
            <a:r>
              <a:rPr lang="en-US" dirty="0"/>
              <a:t> flights).</a:t>
            </a:r>
          </a:p>
          <a:p>
            <a:pPr marL="0" indent="0">
              <a:buNone/>
            </a:pPr>
            <a:r>
              <a:rPr lang="en-US" dirty="0"/>
              <a:t>The total number of flights per customer ranges from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</a:t>
            </a:r>
            <a:r>
              <a:rPr lang="en-US" dirty="0"/>
              <a:t> to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28</a:t>
            </a:r>
            <a:r>
              <a:rPr lang="en-US" dirty="0"/>
              <a:t> flights per month.</a:t>
            </a:r>
          </a:p>
          <a:p>
            <a:pPr marL="0" indent="0">
              <a:buNone/>
            </a:pPr>
            <a:r>
              <a:rPr lang="en-US" dirty="0"/>
              <a:t>The average number of flights per customer ranges from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0 </a:t>
            </a:r>
            <a:r>
              <a:rPr lang="en-US" dirty="0"/>
              <a:t>to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9</a:t>
            </a:r>
            <a:r>
              <a:rPr lang="en-US" dirty="0"/>
              <a:t> flights per month.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283F996-E814-565E-4979-0A0725B814A4}"/>
              </a:ext>
            </a:extLst>
          </p:cNvPr>
          <p:cNvSpPr txBox="1">
            <a:spLocks/>
          </p:cNvSpPr>
          <p:nvPr/>
        </p:nvSpPr>
        <p:spPr>
          <a:xfrm>
            <a:off x="1293664" y="1709779"/>
            <a:ext cx="1043954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FLIGHTS TOTAL NUMBER</a:t>
            </a:r>
          </a:p>
        </p:txBody>
      </p:sp>
    </p:spTree>
    <p:extLst>
      <p:ext uri="{BB962C8B-B14F-4D97-AF65-F5344CB8AC3E}">
        <p14:creationId xmlns:p14="http://schemas.microsoft.com/office/powerpoint/2010/main" val="408445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9BC6-2BD6-20CD-C9BF-7D53F186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CEBDC32-65F6-CCD8-1ADA-FA8FCE97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6399371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FLGHTS ACTIVITY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DE2EAE9-2713-491D-5201-DC19D2C2D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664" y="2569582"/>
            <a:ext cx="8153548" cy="5546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Highest Averages of  Flights per Customer per Month: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CA7D5853-3941-FE02-07A2-7289CB357B94}"/>
              </a:ext>
            </a:extLst>
          </p:cNvPr>
          <p:cNvSpPr txBox="1">
            <a:spLocks/>
          </p:cNvSpPr>
          <p:nvPr/>
        </p:nvSpPr>
        <p:spPr>
          <a:xfrm>
            <a:off x="1293664" y="1709779"/>
            <a:ext cx="541034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MOST TRAVELLING CUSTOMERS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37ACA7-C4D2-A4F5-297F-D5B1AB75C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2" t="37677" r="532" b="43875"/>
          <a:stretch/>
        </p:blipFill>
        <p:spPr>
          <a:xfrm>
            <a:off x="1425750" y="3200400"/>
            <a:ext cx="7183262" cy="2133600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6657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4B03C-D458-2AFC-45C2-6FBE33C1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6C22179-6296-F672-0104-DC980CFC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105400"/>
            <a:ext cx="6399371" cy="1066800"/>
          </a:xfrm>
        </p:spPr>
        <p:txBody>
          <a:bodyPr>
            <a:no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srgbClr val="39527B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AIRLINE FLGHTS ACTIVITY</a:t>
            </a:r>
            <a:endParaRPr lang="en-US" sz="43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1E67F9-4807-459E-CBF5-F3A008E37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664" y="2743200"/>
            <a:ext cx="9829949" cy="2057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Highest Numbers of Points Accumulated were in </a:t>
            </a:r>
            <a:r>
              <a:rPr lang="en-US" dirty="0">
                <a:solidFill>
                  <a:schemeClr val="accent6"/>
                </a:solidFill>
              </a:rPr>
              <a:t>July</a:t>
            </a:r>
            <a:r>
              <a:rPr lang="en-US" dirty="0"/>
              <a:t> of each of both years </a:t>
            </a:r>
            <a:r>
              <a:rPr lang="en-US" dirty="0">
                <a:solidFill>
                  <a:schemeClr val="accent6"/>
                </a:solidFill>
              </a:rPr>
              <a:t>2017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2018</a:t>
            </a:r>
            <a:r>
              <a:rPr lang="en-US" dirty="0"/>
              <a:t> with approximately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39M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64M</a:t>
            </a:r>
            <a:r>
              <a:rPr lang="en-US" dirty="0"/>
              <a:t>, respectively.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Note: </a:t>
            </a:r>
            <a:r>
              <a:rPr lang="en-US" dirty="0">
                <a:solidFill>
                  <a:schemeClr val="accent6"/>
                </a:solidFill>
              </a:rPr>
              <a:t>2018</a:t>
            </a:r>
            <a:r>
              <a:rPr lang="en-US" dirty="0"/>
              <a:t> has the higher numbers of the accumulated points!</a:t>
            </a:r>
          </a:p>
          <a:p>
            <a:pPr marL="0" indent="0">
              <a:buNone/>
            </a:pPr>
            <a:r>
              <a:rPr lang="en-US" dirty="0"/>
              <a:t>The total of the points accumulated in both years is approximately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796.55M</a:t>
            </a:r>
            <a:r>
              <a:rPr lang="en-US" dirty="0"/>
              <a:t>.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EAAF13BA-77E7-5489-E335-18FC68689DCA}"/>
              </a:ext>
            </a:extLst>
          </p:cNvPr>
          <p:cNvSpPr txBox="1">
            <a:spLocks/>
          </p:cNvSpPr>
          <p:nvPr/>
        </p:nvSpPr>
        <p:spPr>
          <a:xfrm>
            <a:off x="1293664" y="1747520"/>
            <a:ext cx="845834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Corbe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Corbe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8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6"/>
                </a:solidFill>
              </a:rPr>
              <a:t>TOTAL POINTS ACCUMULATED BY MONTH AND YEAR</a:t>
            </a:r>
          </a:p>
        </p:txBody>
      </p:sp>
    </p:spTree>
    <p:extLst>
      <p:ext uri="{BB962C8B-B14F-4D97-AF65-F5344CB8AC3E}">
        <p14:creationId xmlns:p14="http://schemas.microsoft.com/office/powerpoint/2010/main" val="3560144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8014" y="4648200"/>
            <a:ext cx="4648198" cy="762000"/>
          </a:xfrm>
        </p:spPr>
        <p:txBody>
          <a:bodyPr/>
          <a:lstStyle/>
          <a:p>
            <a:r>
              <a:rPr lang="en-US" dirty="0"/>
              <a:t>OTHER KEY FINDINGS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CCBBFF61-95FC-2C6A-3F04-1A564F787D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" b="1031"/>
          <a:stretch/>
        </p:blipFill>
        <p:spPr>
          <a:xfrm>
            <a:off x="6094412" y="838200"/>
            <a:ext cx="5283201" cy="5181600"/>
          </a:xfrm>
        </p:spPr>
      </p:pic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608012" y="5410200"/>
            <a:ext cx="4952999" cy="762000"/>
          </a:xfrm>
        </p:spPr>
        <p:txBody>
          <a:bodyPr>
            <a:normAutofit/>
          </a:bodyPr>
          <a:lstStyle/>
          <a:p>
            <a:r>
              <a:rPr lang="en-US" sz="2400" dirty="0"/>
              <a:t>A lot of other findings can be derived from the dashboard.</a:t>
            </a: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7ADA586B-FF57-A42A-1BF8-C901396DE7AD}"/>
              </a:ext>
            </a:extLst>
          </p:cNvPr>
          <p:cNvSpPr/>
          <p:nvPr/>
        </p:nvSpPr>
        <p:spPr>
          <a:xfrm>
            <a:off x="4951412" y="5867400"/>
            <a:ext cx="1295400" cy="685800"/>
          </a:xfrm>
          <a:prstGeom prst="curvedUpArrow">
            <a:avLst>
              <a:gd name="adj1" fmla="val 25000"/>
              <a:gd name="adj2" fmla="val 46597"/>
              <a:gd name="adj3" fmla="val 2500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59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679440-45C9-0DC3-0257-6B127311DE16}"/>
              </a:ext>
            </a:extLst>
          </p:cNvPr>
          <p:cNvSpPr txBox="1"/>
          <p:nvPr/>
        </p:nvSpPr>
        <p:spPr>
          <a:xfrm>
            <a:off x="4341814" y="3054500"/>
            <a:ext cx="3352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300" dirty="0">
                <a:solidFill>
                  <a:schemeClr val="accent1"/>
                </a:solidFill>
              </a:rPr>
              <a:t>THANK YOU </a:t>
            </a:r>
            <a:r>
              <a:rPr lang="en-US" sz="43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8270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00573E-6 1.48148E-6 L -2.00573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marketing glass cube presentation (widescreen).potx" id="{454792B9-F7C6-4CDD-89A0-89451A081408}" vid="{E847D748-0CA0-4BC8-838F-3216ECA80016}"/>
    </a:ext>
  </a:extLst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2053</TotalTime>
  <Words>525</Words>
  <Application>Microsoft Office PowerPoint</Application>
  <PresentationFormat>Custom</PresentationFormat>
  <Paragraphs>89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Corbel</vt:lpstr>
      <vt:lpstr>Marketing 16x9</vt:lpstr>
      <vt:lpstr>CANADA AIRLINE LOYALTY ACTIVITY  ANALYSIS | </vt:lpstr>
      <vt:lpstr>DATASET OUTLINE</vt:lpstr>
      <vt:lpstr>KEY FINDINGS</vt:lpstr>
      <vt:lpstr>FINDING</vt:lpstr>
      <vt:lpstr>PowerPoint Presentation</vt:lpstr>
      <vt:lpstr>AIRLINE CUSTOMERS LOYALTY INFORMATION</vt:lpstr>
      <vt:lpstr>AIRLINE CUSTOMERS LOYALTY INFORMATION</vt:lpstr>
      <vt:lpstr>AIRLINE CUSTOMERS LOYALTY INFORMATION</vt:lpstr>
      <vt:lpstr>AIRLINE CUSTOMERS LOYALTY INFORMATION</vt:lpstr>
      <vt:lpstr>AIRLINE CUSTOMERS LOYALTY INFORMATION</vt:lpstr>
      <vt:lpstr>AIRLINE CUSTOMERS LOYALTY INFORMATION</vt:lpstr>
      <vt:lpstr>KEY FINDINGS</vt:lpstr>
      <vt:lpstr>FINDING</vt:lpstr>
      <vt:lpstr>PowerPoint Presentation</vt:lpstr>
      <vt:lpstr>AIRLINE FLGHTS ACTIVITY</vt:lpstr>
      <vt:lpstr>AIRLINE FLGHTS ACTIVITY</vt:lpstr>
      <vt:lpstr>AIRLINE FLGHTS ACTIVITY</vt:lpstr>
      <vt:lpstr>OTHER 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Habib</dc:creator>
  <cp:lastModifiedBy>Catherine Habib</cp:lastModifiedBy>
  <cp:revision>48</cp:revision>
  <dcterms:created xsi:type="dcterms:W3CDTF">2025-05-10T18:32:41Z</dcterms:created>
  <dcterms:modified xsi:type="dcterms:W3CDTF">2025-05-15T15:55:13Z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